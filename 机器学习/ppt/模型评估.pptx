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1475740"/>
            <a:ext cx="5080000" cy="390652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ct val="60000"/>
              </a:spcAft>
            </a:pPr>
            <a:r>
              <a:rPr lang="zh-CN" altLang="en-US" sz="1900" b="1" i="0">
                <a:solidFill>
                  <a:srgbClr val="333333"/>
                </a:solidFill>
                <a:latin typeface="-apple-system"/>
                <a:ea typeface="-apple-system"/>
              </a:rPr>
              <a:t>第一部分：回归与分类</a:t>
            </a:r>
            <a:endParaRPr lang="zh-CN" altLang="en-US" sz="19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什么是监督学习？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如何预测数值？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线性回归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如何进行分类？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逻辑回归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机器如何学习？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损失函数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梯度下降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ct val="60000"/>
              </a:spcAft>
            </a:pPr>
            <a:r>
              <a:rPr lang="zh-CN" altLang="en-US" sz="1900" b="1" i="0">
                <a:solidFill>
                  <a:srgbClr val="333333"/>
                </a:solidFill>
                <a:latin typeface="-apple-system"/>
                <a:ea typeface="-apple-system"/>
              </a:rPr>
              <a:t>第二部分：评估指标</a:t>
            </a:r>
            <a:endParaRPr lang="zh-CN" altLang="en-US" sz="19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如何科学评价模型？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准确率的陷阱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精确率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(Precision)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vs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召回率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(Recall)</a:t>
            </a:r>
            <a:endParaRPr lang="en-US" altLang="zh-CN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分类模型的“代价”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交叉熵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393315"/>
            <a:ext cx="5080000" cy="207137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机器学习的核心思想，是让计算机不再依赖于人类编写的固定规则，而是从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数据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中自动学习出隐藏的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规律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，并利用这些规律对未知的数据进行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预测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或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决策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它已经渗透到我们生活的方方面面，比如你手机的人脸解锁、购物网站的商品推荐、导航软件的路线规划等。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今天，我们主要关注其中最重要的一类：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监督学习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，即在有“标准答案”的数据集上进行学习。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09520" y="1708150"/>
            <a:ext cx="6958965" cy="41179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回归是监督学习中最基础的任务之一，它的目标是预测一个</a:t>
            </a: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连续的数值型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结果。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简单来说，它回答的是“</a:t>
            </a: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是多少？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”这类问题。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预测房价</a:t>
            </a:r>
            <a:r>
              <a:rPr lang="en-US" altLang="zh-CN" sz="2000" b="0" i="0">
                <a:solidFill>
                  <a:srgbClr val="C51162"/>
                </a:solidFill>
                <a:latin typeface="-apple-system"/>
                <a:ea typeface="-apple-system"/>
              </a:rPr>
              <a:t>: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根据房屋的面积、位置、楼层，预测它的价格（如：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5,350,000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元）。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预测气温</a:t>
            </a:r>
            <a:r>
              <a:rPr lang="en-US" altLang="zh-CN" sz="2000" b="0" i="0">
                <a:solidFill>
                  <a:srgbClr val="C51162"/>
                </a:solidFill>
                <a:latin typeface="-apple-system"/>
                <a:ea typeface="-apple-system"/>
              </a:rPr>
              <a:t>: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根据历史气象数据，预测明天的最高温度（如：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28.5℃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）。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预测销量</a:t>
            </a:r>
            <a:r>
              <a:rPr lang="en-US" altLang="zh-CN" sz="2000" b="0" i="0">
                <a:solidFill>
                  <a:srgbClr val="C51162"/>
                </a:solidFill>
                <a:latin typeface="-apple-system"/>
                <a:ea typeface="-apple-system"/>
              </a:rPr>
              <a:t>: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根据广告投入、季节因素，预测下个季度的产品销量（如：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120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万件）。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我们的目标是找到输入特征（如面积）和输出数值（如价格）之间的映射关系。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77035" y="523875"/>
            <a:ext cx="3696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回归</a:t>
            </a:r>
            <a:r>
              <a:rPr lang="zh-CN" altLang="en-US"/>
              <a:t>任务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83005" y="530225"/>
            <a:ext cx="9159875" cy="54311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要建立输入和输出的关系，最简单的方式就是画一条直线。这就是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线性回归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的核心思想。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这条直线的数学表达式是：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y = w * x + b</a:t>
            </a:r>
            <a:endParaRPr lang="en-US" altLang="zh-CN" sz="1600" b="0" i="0">
              <a:solidFill>
                <a:srgbClr val="3F51B5"/>
              </a:solidFill>
              <a:latin typeface="SFMono-Regular"/>
              <a:ea typeface="SFMono-Regular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y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是我们想预测的值（比如房价）。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x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是我们的输入特征（比如房屋面积）。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w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(Weight/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权重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) 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是直线的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斜率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，它代表了特征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x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的重要性。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w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越大，说明面积对房价的影响越大。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b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(Bias/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偏置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) 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是直线的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截距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，它是一个基础值，代表了当特征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x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为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0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时的基准预测值。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机器学习的任务，就是自动地找到那条拟合数据最好的直线，即找到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最优的</a:t>
            </a:r>
            <a:r>
              <a:rPr lang="en-US" altLang="zh-CN" sz="2700" b="0" i="0">
                <a:solidFill>
                  <a:srgbClr val="C51162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w</a:t>
            </a:r>
            <a:r>
              <a:rPr lang="en-US" altLang="zh-CN" sz="2700" b="0" i="0">
                <a:solidFill>
                  <a:srgbClr val="C51162"/>
                </a:solidFill>
                <a:latin typeface="-apple-system"/>
                <a:ea typeface="-apple-system"/>
              </a:rPr>
              <a:t> 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和</a:t>
            </a:r>
            <a:r>
              <a:rPr lang="en-US" altLang="zh-CN" sz="2700" b="0" i="0">
                <a:solidFill>
                  <a:srgbClr val="C51162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b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5540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如何衡量“好”与“坏”：损失函数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/</a:t>
            </a: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误差函数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 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22830" y="1837690"/>
            <a:ext cx="73958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我们如何用数学语言来定义一条直线是</a:t>
            </a:r>
            <a:r>
              <a:rPr lang="en-US" altLang="zh-CN"/>
              <a:t>“</a:t>
            </a:r>
            <a:r>
              <a:rPr lang="zh-CN" altLang="en-US"/>
              <a:t>好</a:t>
            </a:r>
            <a:r>
              <a:rPr lang="en-US" altLang="zh-CN"/>
              <a:t>”</a:t>
            </a:r>
            <a:r>
              <a:rPr lang="zh-CN" altLang="en-US"/>
              <a:t>还是</a:t>
            </a:r>
            <a:r>
              <a:rPr lang="en-US" altLang="zh-CN"/>
              <a:t>“</a:t>
            </a:r>
            <a:r>
              <a:rPr lang="zh-CN" altLang="en-US"/>
              <a:t>坏</a:t>
            </a:r>
            <a:r>
              <a:rPr lang="en-US" altLang="zh-CN"/>
              <a:t>”</a:t>
            </a:r>
            <a:r>
              <a:rPr lang="zh-CN" altLang="en-US"/>
              <a:t>呢？答案是损失函数</a:t>
            </a:r>
            <a:r>
              <a:rPr lang="en-US" altLang="zh-CN"/>
              <a:t> (Loss Function)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损失函数是一个衡量模型预测值与真实值之间差距的函数。差距越大，损失值就越大，说明模型表现越差。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对于线性回归，最常用的损失函数是均方误差</a:t>
            </a:r>
            <a:r>
              <a:rPr lang="en-US" altLang="zh-CN"/>
              <a:t> (Mean Squared Error, MSE)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计算每个真实数据点到我们预测直线上的垂直距离（误差）。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将所有这些距离（误差）进行平方（以消除负号并放大较大误差）。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将所有平方误差加起来，再求平均值。</a:t>
            </a:r>
            <a:endParaRPr lang="zh-CN" altLang="en-US"/>
          </a:p>
          <a:p>
            <a:r>
              <a:rPr lang="zh-CN" altLang="en-US"/>
              <a:t>我们的目标，就是调整</a:t>
            </a:r>
            <a:r>
              <a:rPr lang="en-US" altLang="zh-CN"/>
              <a:t> w </a:t>
            </a:r>
            <a:r>
              <a:rPr lang="zh-CN" altLang="en-US"/>
              <a:t>和</a:t>
            </a:r>
            <a:r>
              <a:rPr lang="en-US" altLang="zh-CN"/>
              <a:t> b</a:t>
            </a:r>
            <a:r>
              <a:rPr lang="zh-CN" altLang="en-US"/>
              <a:t>，使得这个</a:t>
            </a:r>
            <a:r>
              <a:rPr lang="en-US" altLang="zh-CN"/>
              <a:t>MSE</a:t>
            </a:r>
            <a:r>
              <a:rPr lang="zh-CN" altLang="en-US"/>
              <a:t>值最小。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92020" y="2049780"/>
            <a:ext cx="746696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我们已经有了目标（最小化损失函数），但如何系统地找到能实现这个目标的</a:t>
            </a:r>
            <a:r>
              <a:rPr lang="en-US" altLang="zh-CN"/>
              <a:t> w </a:t>
            </a:r>
            <a:r>
              <a:rPr lang="zh-CN" altLang="en-US"/>
              <a:t>和</a:t>
            </a:r>
            <a:r>
              <a:rPr lang="en-US" altLang="zh-CN"/>
              <a:t> b </a:t>
            </a:r>
            <a:r>
              <a:rPr lang="zh-CN" altLang="en-US"/>
              <a:t>呢？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这里介绍一种强大的优化算法：梯度下降</a:t>
            </a:r>
            <a:r>
              <a:rPr lang="en-US" altLang="zh-CN"/>
              <a:t> (Gradient Descent)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想象一个经典的比喻：蒙眼下山。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你现在身处一座大山（损失函数的曲面）的某个位置。</a:t>
            </a:r>
            <a:endParaRPr lang="zh-CN" altLang="en-US"/>
          </a:p>
          <a:p>
            <a:r>
              <a:rPr lang="zh-CN" altLang="en-US"/>
              <a:t>你的目标是尽快到达山谷的最低点（损失函数的最小值）。</a:t>
            </a:r>
            <a:endParaRPr lang="zh-CN" altLang="en-US"/>
          </a:p>
          <a:p>
            <a:r>
              <a:rPr lang="zh-CN" altLang="en-US"/>
              <a:t>但你的眼睛被蒙住了，你唯一能做的就是用脚感受当前位置哪个方向是下坡最陡的。</a:t>
            </a:r>
            <a:endParaRPr lang="zh-CN" altLang="en-US"/>
          </a:p>
          <a:p>
            <a:r>
              <a:rPr lang="zh-CN" altLang="en-US"/>
              <a:t>于是，你朝着这个最陡的下坡方向，迈出一小步。</a:t>
            </a:r>
            <a:endParaRPr lang="zh-CN" altLang="en-US"/>
          </a:p>
          <a:p>
            <a:r>
              <a:rPr lang="zh-CN" altLang="en-US"/>
              <a:t>然后重复这个过程：感受坡度</a:t>
            </a:r>
            <a:r>
              <a:rPr lang="en-US" altLang="zh-CN"/>
              <a:t> -&gt; </a:t>
            </a:r>
            <a:r>
              <a:rPr lang="zh-CN" altLang="en-US"/>
              <a:t>迈一小步</a:t>
            </a:r>
            <a:r>
              <a:rPr lang="en-US" altLang="zh-CN"/>
              <a:t> -&gt; </a:t>
            </a:r>
            <a:r>
              <a:rPr lang="zh-CN" altLang="en-US"/>
              <a:t>感受坡度</a:t>
            </a:r>
            <a:r>
              <a:rPr lang="en-US" altLang="zh-CN"/>
              <a:t> -&gt; </a:t>
            </a:r>
            <a:r>
              <a:rPr lang="zh-CN" altLang="en-US"/>
              <a:t>迈一小步</a:t>
            </a:r>
            <a:r>
              <a:rPr lang="en-US" altLang="zh-CN"/>
              <a:t>... </a:t>
            </a:r>
            <a:r>
              <a:rPr lang="zh-CN" altLang="en-US"/>
              <a:t>直到你感觉脚下是平地，你就到达了谷底。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385185" y="6943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又是梯度下降</a:t>
            </a: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法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92020" y="2049780"/>
            <a:ext cx="746696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现在我们把</a:t>
            </a:r>
            <a:r>
              <a:rPr lang="en-US" altLang="zh-CN"/>
              <a:t>“</a:t>
            </a:r>
            <a:r>
              <a:rPr lang="zh-CN" altLang="en-US"/>
              <a:t>蒙眼下山</a:t>
            </a:r>
            <a:r>
              <a:rPr lang="en-US" altLang="zh-CN"/>
              <a:t>”</a:t>
            </a:r>
            <a:r>
              <a:rPr lang="zh-CN" altLang="en-US"/>
              <a:t>的比喻翻译成数学语言：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梯度</a:t>
            </a:r>
            <a:r>
              <a:rPr lang="en-US" altLang="zh-CN"/>
              <a:t> (Gradient): </a:t>
            </a:r>
            <a:r>
              <a:rPr lang="zh-CN" altLang="en-US"/>
              <a:t>就是那个</a:t>
            </a:r>
            <a:r>
              <a:rPr lang="en-US" altLang="zh-CN"/>
              <a:t>“</a:t>
            </a:r>
            <a:r>
              <a:rPr lang="zh-CN" altLang="en-US"/>
              <a:t>下坡最陡的方向</a:t>
            </a:r>
            <a:r>
              <a:rPr lang="en-US" altLang="zh-CN"/>
              <a:t>”</a:t>
            </a:r>
            <a:r>
              <a:rPr lang="zh-CN" altLang="en-US"/>
              <a:t>。在数学上，梯度是一个向量，指向函数值增长最快的方向。因此，梯度的反方向就是函数值下降最快的方向。</a:t>
            </a:r>
            <a:endParaRPr lang="zh-CN" altLang="en-US"/>
          </a:p>
          <a:p>
            <a:r>
              <a:rPr lang="zh-CN" altLang="en-US"/>
              <a:t>学习率</a:t>
            </a:r>
            <a:r>
              <a:rPr lang="en-US" altLang="zh-CN"/>
              <a:t> (Learning Rate): </a:t>
            </a:r>
            <a:r>
              <a:rPr lang="zh-CN" altLang="en-US"/>
              <a:t>就是你下山时</a:t>
            </a:r>
            <a:r>
              <a:rPr lang="en-US" altLang="zh-CN"/>
              <a:t>“</a:t>
            </a:r>
            <a:r>
              <a:rPr lang="zh-CN" altLang="en-US"/>
              <a:t>每一步迈多大</a:t>
            </a:r>
            <a:r>
              <a:rPr lang="en-US" altLang="zh-CN"/>
              <a:t>”</a:t>
            </a:r>
            <a:r>
              <a:rPr lang="zh-CN" altLang="en-US"/>
              <a:t>。它是一个超参数，需要我们手动设置。</a:t>
            </a:r>
            <a:endParaRPr lang="zh-CN" altLang="en-US"/>
          </a:p>
          <a:p>
            <a:r>
              <a:rPr lang="zh-CN" altLang="en-US"/>
              <a:t>如果学习率太大，你可能一步就迈过了谷底，导致在谷底两侧来回震荡，无法收敛。</a:t>
            </a:r>
            <a:endParaRPr lang="zh-CN" altLang="en-US"/>
          </a:p>
          <a:p>
            <a:r>
              <a:rPr lang="zh-CN" altLang="en-US"/>
              <a:t>如果学习率太小，你每一步都前进一点点，下山速度会非常慢，训练时间极长。</a:t>
            </a:r>
            <a:endParaRPr lang="zh-CN" altLang="en-US"/>
          </a:p>
          <a:p>
            <a:r>
              <a:rPr lang="zh-CN" altLang="en-US"/>
              <a:t>梯度下降的过程就是：当前参数</a:t>
            </a:r>
            <a:r>
              <a:rPr lang="en-US" altLang="zh-CN"/>
              <a:t> - </a:t>
            </a:r>
            <a:r>
              <a:rPr lang="zh-CN" altLang="en-US"/>
              <a:t>学习率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梯度，通过这样反复迭代更新参数，最终使损失函数达到最小值。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385185" y="6943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又是梯度下降</a:t>
            </a: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法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4055" y="672465"/>
            <a:ext cx="2623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分类</a:t>
            </a:r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87600" y="1826260"/>
            <a:ext cx="7458710" cy="32048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除了预测数值，监督学习的另一个核心任务是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分类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分类的目标是预测一个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离散的类别标签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。它回答的是“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是不是？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”或者“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是哪一个？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”这类问题。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二分类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(Binary Classification)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判断一封邮件是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垃圾邮件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还是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正常邮件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判断一位客户是会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流失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还是会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留存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多分类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(Multi-class Classification)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识别一张图片中的动物是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猫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、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狗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，还是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鸟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根据新闻标题，将其分为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体育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、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娱乐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，还是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科技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4180" y="1212850"/>
            <a:ext cx="6470015" cy="5036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处理分类问题的一个经典模型是</a:t>
            </a:r>
            <a:r>
              <a:rPr lang="zh-CN" altLang="en-US" sz="2400" b="0" i="0">
                <a:solidFill>
                  <a:srgbClr val="C51162"/>
                </a:solidFill>
                <a:latin typeface="-apple-system"/>
                <a:ea typeface="-apple-system"/>
              </a:rPr>
              <a:t>逻辑回归 </a:t>
            </a:r>
            <a:r>
              <a:rPr lang="en-US" altLang="zh-CN" sz="2400" b="0" i="0">
                <a:solidFill>
                  <a:srgbClr val="C51162"/>
                </a:solidFill>
                <a:latin typeface="-apple-system"/>
                <a:ea typeface="-apple-system"/>
              </a:rPr>
              <a:t>(Logistic Regression)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。请注意，虽然它的名字里有“回归”，但它解决的却是</a:t>
            </a:r>
            <a:r>
              <a:rPr lang="zh-CN" altLang="en-US" sz="2400" b="0" i="0">
                <a:solidFill>
                  <a:srgbClr val="C51162"/>
                </a:solidFill>
                <a:latin typeface="-apple-system"/>
                <a:ea typeface="-apple-system"/>
              </a:rPr>
              <a:t>分类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问题。</a:t>
            </a:r>
            <a:endParaRPr lang="zh-CN" altLang="en-US" sz="24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它的巧妙之处在于，如何将线性回归的输出</a:t>
            </a:r>
            <a:r>
              <a:rPr lang="en-US" altLang="zh-CN" sz="24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400" b="0" i="0">
                <a:solidFill>
                  <a:srgbClr val="3F51B5"/>
                </a:solidFill>
                <a:latin typeface="SFMono-Regular"/>
                <a:ea typeface="SFMono-Regular"/>
              </a:rPr>
              <a:t>z = wx + b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（可以是从负无穷到正无穷的任何数）转换成一个表示</a:t>
            </a:r>
            <a:r>
              <a:rPr lang="zh-CN" altLang="en-US" sz="2400" b="0" i="0">
                <a:solidFill>
                  <a:srgbClr val="C51162"/>
                </a:solidFill>
                <a:latin typeface="-apple-system"/>
                <a:ea typeface="-apple-system"/>
              </a:rPr>
              <a:t>概率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的值呢？</a:t>
            </a:r>
            <a:endParaRPr lang="zh-CN" altLang="en-US" sz="24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答案是使用一个神奇的函数</a:t>
            </a:r>
            <a:r>
              <a:rPr lang="en-US" altLang="zh-CN" sz="2400" b="0" i="0">
                <a:solidFill>
                  <a:srgbClr val="333333"/>
                </a:solidFill>
                <a:latin typeface="-apple-system"/>
                <a:ea typeface="-apple-system"/>
              </a:rPr>
              <a:t>——</a:t>
            </a:r>
            <a:r>
              <a:rPr lang="en-US" altLang="zh-CN" sz="2400" b="0" i="0">
                <a:solidFill>
                  <a:srgbClr val="C51162"/>
                </a:solidFill>
                <a:latin typeface="-apple-system"/>
                <a:ea typeface="-apple-system"/>
              </a:rPr>
              <a:t>Sigmoid </a:t>
            </a:r>
            <a:r>
              <a:rPr lang="zh-CN" altLang="en-US" sz="2400" b="0" i="0">
                <a:solidFill>
                  <a:srgbClr val="C51162"/>
                </a:solidFill>
                <a:latin typeface="-apple-system"/>
                <a:ea typeface="-apple-system"/>
              </a:rPr>
              <a:t>函数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4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en-US" altLang="zh-CN" sz="2400" b="0" i="0">
                <a:solidFill>
                  <a:srgbClr val="333333"/>
                </a:solidFill>
                <a:latin typeface="-apple-system"/>
                <a:ea typeface="-apple-system"/>
              </a:rPr>
              <a:t>Sigmoid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函数可以将任何实数输入，“压扁”并映射到</a:t>
            </a:r>
            <a:r>
              <a:rPr lang="en-US" altLang="zh-CN" sz="24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2400" b="0" i="0">
                <a:solidFill>
                  <a:srgbClr val="C51162"/>
                </a:solidFill>
                <a:latin typeface="-apple-system"/>
                <a:ea typeface="-apple-system"/>
              </a:rPr>
              <a:t>(0, 1)</a:t>
            </a:r>
            <a:r>
              <a:rPr lang="en-US" altLang="zh-CN" sz="24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这个区间内。</a:t>
            </a:r>
            <a:endParaRPr lang="zh-CN" altLang="en-US" sz="24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这样，输出值就可以被解释为一个概率。例如，输出</a:t>
            </a:r>
            <a:r>
              <a:rPr lang="en-US" altLang="zh-CN" sz="2400" b="0" i="0">
                <a:solidFill>
                  <a:srgbClr val="333333"/>
                </a:solidFill>
                <a:latin typeface="-apple-system"/>
                <a:ea typeface="-apple-system"/>
              </a:rPr>
              <a:t>0.8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就代表模型认为该样本属于正类的概率是</a:t>
            </a:r>
            <a:r>
              <a:rPr lang="en-US" altLang="zh-CN" sz="2400" b="0" i="0">
                <a:solidFill>
                  <a:srgbClr val="333333"/>
                </a:solidFill>
                <a:latin typeface="-apple-system"/>
                <a:ea typeface="-apple-system"/>
              </a:rPr>
              <a:t>80%</a:t>
            </a:r>
            <a:r>
              <a:rPr lang="zh-CN" altLang="en-US" sz="24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4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2655" y="5730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分类模型：逻辑回归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9605" y="1768475"/>
            <a:ext cx="4475480" cy="3150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5953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逻辑回归的决策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53515" y="1183640"/>
            <a:ext cx="9008745" cy="4759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有了概率，我们就可以做出决策了。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我们通常会设定一个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阈值 </a:t>
            </a:r>
            <a:r>
              <a:rPr lang="en-US" altLang="zh-CN" sz="2700" b="0" i="0">
                <a:solidFill>
                  <a:srgbClr val="C51162"/>
                </a:solidFill>
                <a:latin typeface="-apple-system"/>
                <a:ea typeface="-apple-system"/>
              </a:rPr>
              <a:t>(Threshold)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，最常见的阈值是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2700" b="0" i="0">
                <a:solidFill>
                  <a:srgbClr val="C51162"/>
                </a:solidFill>
                <a:latin typeface="-apple-system"/>
                <a:ea typeface="-apple-system"/>
              </a:rPr>
              <a:t>0.5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如果模型输出的概率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P &gt; 0.5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，我们就预测该样本为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正类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（比如，是垃圾邮件，标签为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1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）。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如果模型输出的概率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P &lt; 0.5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，我们就预测该样本为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负类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（比如，是正常邮件，标签为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0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）。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这个阈值不是一成不变的。在某些特定场景下，为了达到特定的业务目标，我们可能会调整这个阈值，比如设置成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0.7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或者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0.3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778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监督学习的“四步走”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 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07030" y="1755140"/>
            <a:ext cx="637857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到目前为止，我们已经建立起对监督学习基本范式的完整理解，可以总结为清晰的</a:t>
            </a:r>
            <a:r>
              <a:rPr lang="en-US" altLang="zh-CN"/>
              <a:t>“</a:t>
            </a:r>
            <a:r>
              <a:rPr lang="zh-CN" altLang="en-US"/>
              <a:t>四步走</a:t>
            </a:r>
            <a:r>
              <a:rPr lang="en-US" altLang="zh-CN"/>
              <a:t>”</a:t>
            </a:r>
            <a:r>
              <a:rPr lang="zh-CN" altLang="en-US"/>
              <a:t>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准备数据</a:t>
            </a:r>
            <a:r>
              <a:rPr lang="en-US" altLang="zh-CN"/>
              <a:t>: </a:t>
            </a:r>
            <a:r>
              <a:rPr lang="zh-CN" altLang="en-US"/>
              <a:t>收集大量带标签的样本，如</a:t>
            </a:r>
            <a:r>
              <a:rPr lang="en-US" altLang="zh-CN"/>
              <a:t> (</a:t>
            </a:r>
            <a:r>
              <a:rPr lang="zh-CN" altLang="en-US"/>
              <a:t>房屋面积</a:t>
            </a:r>
            <a:r>
              <a:rPr lang="en-US" altLang="zh-CN"/>
              <a:t>, </a:t>
            </a:r>
            <a:r>
              <a:rPr lang="zh-CN" altLang="en-US"/>
              <a:t>房屋价格</a:t>
            </a:r>
            <a:r>
              <a:rPr lang="en-US" altLang="zh-CN"/>
              <a:t>) </a:t>
            </a:r>
            <a:r>
              <a:rPr lang="zh-CN" altLang="en-US"/>
              <a:t>或</a:t>
            </a:r>
            <a:r>
              <a:rPr lang="en-US" altLang="zh-CN"/>
              <a:t> (</a:t>
            </a:r>
            <a:r>
              <a:rPr lang="zh-CN" altLang="en-US"/>
              <a:t>邮件特征</a:t>
            </a:r>
            <a:r>
              <a:rPr lang="en-US" altLang="zh-CN"/>
              <a:t>, </a:t>
            </a:r>
            <a:r>
              <a:rPr lang="zh-CN" altLang="en-US"/>
              <a:t>是否垃圾邮件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选择模型</a:t>
            </a:r>
            <a:r>
              <a:rPr lang="en-US" altLang="zh-CN"/>
              <a:t>: </a:t>
            </a:r>
            <a:r>
              <a:rPr lang="zh-CN" altLang="en-US"/>
              <a:t>根据任务类型（回归或分类）选择一个合适的数学模型，如线性回归</a:t>
            </a:r>
            <a:r>
              <a:rPr lang="en-US" altLang="zh-CN"/>
              <a:t> y = wx+b </a:t>
            </a:r>
            <a:r>
              <a:rPr lang="zh-CN" altLang="en-US"/>
              <a:t>或逻辑回归</a:t>
            </a:r>
            <a:r>
              <a:rPr lang="en-US" altLang="zh-CN"/>
              <a:t> P = Sigmoid(wx+b)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定义损失</a:t>
            </a:r>
            <a:r>
              <a:rPr lang="en-US" altLang="zh-CN"/>
              <a:t>: </a:t>
            </a:r>
            <a:r>
              <a:rPr lang="zh-CN" altLang="en-US"/>
              <a:t>选择一个损失函数来量化模型的预测与真实标签之间的差距，如均方误差。</a:t>
            </a:r>
            <a:endParaRPr lang="zh-CN" altLang="en-US"/>
          </a:p>
          <a:p>
            <a:r>
              <a:rPr lang="zh-CN" altLang="en-US"/>
              <a:t>优化求解</a:t>
            </a:r>
            <a:r>
              <a:rPr lang="en-US" altLang="zh-CN"/>
              <a:t>: </a:t>
            </a:r>
            <a:r>
              <a:rPr lang="zh-CN" altLang="en-US"/>
              <a:t>使用一个优化算法（如梯度下降）来不断调整模型的参数（</a:t>
            </a:r>
            <a:r>
              <a:rPr lang="en-US" altLang="zh-CN"/>
              <a:t>w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），以最小化损失函数。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60370"/>
            <a:ext cx="5080000" cy="9372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900" b="1" i="0">
                <a:solidFill>
                  <a:srgbClr val="283593"/>
                </a:solidFill>
                <a:latin typeface="-apple-system"/>
                <a:ea typeface="-apple-system"/>
              </a:rPr>
              <a:t>机器学习基础：评估指标</a:t>
            </a:r>
            <a:endParaRPr lang="zh-CN" altLang="en-US" sz="1900" b="1" i="0">
              <a:solidFill>
                <a:srgbClr val="283593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如何科学地评价一个模型的好坏？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791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为什么需要评估指标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1398270"/>
            <a:ext cx="5080000" cy="406146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一个模型在训练数据上损失很低，就代表它是一个好模型吗？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不一定！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这里存在一个非常普遍的风险，叫做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过拟合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(Overfitting)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过拟合指模型对训练数据“死记硬背”，过度学习了训练数据中的噪声和细节，导致它在新的、未见过的数据上表现很差。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一个生动的比喻：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训练集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就像你备考时刷的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练习题库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测试集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就像是真正的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高考真题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，是你从未见过的。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一个在题库上次次满分，但一上考场就不及格的学生，不是我们想要的。因此，我们必须在独立的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测试集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上评估模型的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泛化能力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5737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最直观的指标：准确率 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(Accuracy) 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72285" y="1913255"/>
            <a:ext cx="8127365" cy="4102735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最容易想到的评估指标就是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准确率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，它的定义非常直观。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准确率 </a:t>
            </a:r>
            <a:r>
              <a:rPr lang="en-US" altLang="zh-CN" sz="2700" b="0" i="0">
                <a:solidFill>
                  <a:srgbClr val="C51162"/>
                </a:solidFill>
                <a:latin typeface="-apple-system"/>
                <a:ea typeface="-apple-system"/>
              </a:rPr>
              <a:t>(Accuracy) = 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预测正确的样本数 </a:t>
            </a:r>
            <a:r>
              <a:rPr lang="en-US" altLang="zh-CN" sz="2700" b="0" i="0">
                <a:solidFill>
                  <a:srgbClr val="C51162"/>
                </a:solidFill>
                <a:latin typeface="-apple-system"/>
                <a:ea typeface="-apple-system"/>
              </a:rPr>
              <a:t>/ 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总样本数</a:t>
            </a:r>
            <a:endParaRPr lang="zh-CN" altLang="en-US" sz="27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举例：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在一个包含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100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个样本的测试集中，我们的模型预测对了其中的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95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个。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那么，准确率就是</a:t>
            </a:r>
            <a:r>
              <a:rPr lang="en-US" altLang="zh-CN" sz="27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95 / 100 = 95%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在很多场景下，准确率是一个很好、很直接的指标。但它有一个巨大的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陷阱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3933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准确率的陷阱：样本不均衡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10080" y="1078865"/>
            <a:ext cx="8414385" cy="4246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让我们考虑一个极端但现实的场景：</a:t>
            </a: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罕见病诊断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假设在一个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1000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人的群体中，只有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1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个人是患者（占比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0.1%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），其余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999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人都是健康的。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现在有一个“傻瓜”模型，它的策略非常简单：</a:t>
            </a: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不管输入是什么，永远预测“健康”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它预测对了多少人？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—— 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它正确地预测了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999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个健康的人。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它的准确率是多少？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—— 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999 / 1000 = 99.9%</a:t>
            </a:r>
            <a:endParaRPr lang="en-US" altLang="zh-CN" sz="1600" b="0" i="0">
              <a:solidFill>
                <a:srgbClr val="3F51B5"/>
              </a:solidFill>
              <a:latin typeface="SFMono-Regular"/>
              <a:ea typeface="SFMono-Regular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这个模型的准确率高得惊人，但它的价值是</a:t>
            </a: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零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！因为它一个真正的病人都没找出来。在医疗场景下，这是灾难性的。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结论：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在</a:t>
            </a:r>
            <a:r>
              <a:rPr lang="zh-CN" altLang="en-US" sz="2000" b="0" i="0">
                <a:solidFill>
                  <a:srgbClr val="C51162"/>
                </a:solidFill>
                <a:latin typeface="-apple-system"/>
                <a:ea typeface="-apple-system"/>
              </a:rPr>
              <a:t>样本类别分布极不均衡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的情况下，准确率会给出极具误导性的结果。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3933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混淆矩阵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62935" y="1052830"/>
            <a:ext cx="5919470" cy="9582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为了更深入地了解模型的表现，我们需要一个更精细的工具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——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混淆矩阵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(Confusion Matrix)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它将二分类的结果分成了四种情况（以“癌症诊断”为例）：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853440" y="258318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ctr"/>
                      <a:b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预测为：病人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(Positive)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预测为：健康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(Negative)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真实是：病人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(Positive)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TP (True Positive)</a:t>
                      </a:r>
                      <a:b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真阳性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找对了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FN (False Negative)</a:t>
                      </a:r>
                      <a:b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假阴性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漏报</a:t>
                      </a:r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!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真实是：健康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(Negative)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FP (False Positive)</a:t>
                      </a:r>
                      <a:b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假阳性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误报</a:t>
                      </a:r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!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TN (True Negative)</a:t>
                      </a:r>
                      <a:b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真阴性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找对了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67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精确率 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(Precision / </a:t>
            </a: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查准率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) 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4990" y="1080135"/>
            <a:ext cx="8202295" cy="15938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精确率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关注的是“预测结果的准确性”。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它的计算公式是：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Precision = TP / (TP + FP)</a:t>
            </a:r>
            <a:endParaRPr lang="en-US" altLang="zh-CN" sz="1600" b="0" i="0">
              <a:solidFill>
                <a:srgbClr val="3F51B5"/>
              </a:solidFill>
              <a:latin typeface="SFMono-Regular"/>
              <a:ea typeface="SFMono-Regular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用大白话解释就是：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2747327"/>
            <a:ext cx="5080000" cy="13633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000"/>
              </a:spcAft>
            </a:pP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“在你所有</a:t>
            </a:r>
            <a:r>
              <a:rPr lang="zh-CN" altLang="en-US" sz="1700" b="0" i="1">
                <a:solidFill>
                  <a:srgbClr val="C51162"/>
                </a:solidFill>
                <a:latin typeface="-apple-system"/>
                <a:ea typeface="-apple-system"/>
              </a:rPr>
              <a:t>预测为‘阳性’</a:t>
            </a: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的样本中，</a:t>
            </a:r>
            <a:endParaRPr lang="zh-CN" altLang="en-US" sz="17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000"/>
              </a:spcAft>
            </a:pP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到底有多少是</a:t>
            </a:r>
            <a:r>
              <a:rPr lang="zh-CN" altLang="en-US" sz="1700" b="0" i="1">
                <a:solidFill>
                  <a:srgbClr val="C51162"/>
                </a:solidFill>
                <a:latin typeface="-apple-system"/>
                <a:ea typeface="-apple-system"/>
              </a:rPr>
              <a:t>真的‘阳性’</a:t>
            </a: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？”</a:t>
            </a:r>
            <a:endParaRPr lang="zh-CN" altLang="en-US" sz="17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它回答了“你预测的有多准？”这个问题，旨在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减少误报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(FP)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。它的口诀可以记为：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宁缺毋滥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853440" y="450342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ctr"/>
                      <a:b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预测为：病人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预测为：健康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真实是：病人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TP</a:t>
                      </a:r>
                      <a:endParaRPr lang="en-US" altLang="zh-CN" sz="1800" b="0" i="0">
                        <a:solidFill>
                          <a:srgbClr val="C51162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FN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真实是：健康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FP</a:t>
                      </a:r>
                      <a:endParaRPr lang="en-US" altLang="zh-CN" sz="1800" b="0" i="0">
                        <a:solidFill>
                          <a:srgbClr val="C51162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TN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5095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精确率的应用场景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 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179513"/>
            <a:ext cx="5080000" cy="282003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当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FP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（误报）的代价非常高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时，我们希望模型的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精确率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尽可能高。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场景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1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：垃圾邮件过滤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如果一个模型把你的重要工作邮件或录取通知书（正常邮件）错误地判断为垃圾邮件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(FP)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，后果可能很严重。我们宁愿放过一些垃圾邮件，也不想错失重要信息。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场景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：股票推荐系统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如果系统推荐你买入的股票（预测为“会涨”）结果都大跌了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(FP)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，你会很快对这个系统失去信任。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495268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在这些场景，我们要求模型做出的每一个“阳性”预测都必须有很高的置信度。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19500" y="4137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召回率 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(Recall / </a:t>
            </a: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查全率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)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8915" y="1027430"/>
            <a:ext cx="6811010" cy="20097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与精确率相对，</a:t>
            </a:r>
            <a:r>
              <a:rPr lang="zh-CN" altLang="en-US" sz="2700" b="0" i="0">
                <a:solidFill>
                  <a:srgbClr val="C51162"/>
                </a:solidFill>
                <a:latin typeface="-apple-system"/>
                <a:ea typeface="-apple-system"/>
              </a:rPr>
              <a:t>召回率</a:t>
            </a: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关注的是“找出正例的全面性”。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它的计算公式是：</a:t>
            </a:r>
            <a:r>
              <a:rPr lang="en-US" altLang="zh-CN" sz="1600" b="0" i="0">
                <a:solidFill>
                  <a:srgbClr val="3F51B5"/>
                </a:solidFill>
                <a:latin typeface="SFMono-Regular"/>
                <a:ea typeface="SFMono-Regular"/>
              </a:rPr>
              <a:t>Recall = TP / (TP + FN)</a:t>
            </a:r>
            <a:endParaRPr lang="en-US" altLang="zh-CN" sz="1600" b="0" i="0">
              <a:solidFill>
                <a:srgbClr val="3F51B5"/>
              </a:solidFill>
              <a:latin typeface="SFMono-Regular"/>
              <a:ea typeface="SFMono-Regular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2700" b="0" i="0">
                <a:solidFill>
                  <a:srgbClr val="333333"/>
                </a:solidFill>
                <a:latin typeface="-apple-system"/>
                <a:ea typeface="-apple-system"/>
              </a:rPr>
              <a:t>用大白话解释就是：</a:t>
            </a:r>
            <a:endParaRPr lang="zh-CN" altLang="en-US" sz="2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037522"/>
            <a:ext cx="5080000" cy="13633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000"/>
              </a:spcAft>
            </a:pP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“在所有</a:t>
            </a:r>
            <a:r>
              <a:rPr lang="zh-CN" altLang="en-US" sz="1700" b="0" i="1">
                <a:solidFill>
                  <a:srgbClr val="C51162"/>
                </a:solidFill>
                <a:latin typeface="-apple-system"/>
                <a:ea typeface="-apple-system"/>
              </a:rPr>
              <a:t>真正是‘阳性’</a:t>
            </a: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的样本中，</a:t>
            </a:r>
            <a:endParaRPr lang="zh-CN" altLang="en-US" sz="17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000"/>
              </a:spcAft>
            </a:pP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你成功地</a:t>
            </a:r>
            <a:r>
              <a:rPr lang="zh-CN" altLang="en-US" sz="1700" b="0" i="1">
                <a:solidFill>
                  <a:srgbClr val="C51162"/>
                </a:solidFill>
                <a:latin typeface="-apple-system"/>
                <a:ea typeface="-apple-system"/>
              </a:rPr>
              <a:t>‘召回’（找到）</a:t>
            </a: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了多少？”</a:t>
            </a:r>
            <a:endParaRPr lang="zh-CN" altLang="en-US" sz="17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它回答了“你找得有多全？”这个问题，旨在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减少漏报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(FN)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。它的口诀可以记为：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宁错杀一千，不放过一个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853440" y="476885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ctr"/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预测为：病人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预测为：健康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3600"/>
                    </a:p>
                  </a:txBody>
                  <a:tcPr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真实是：病人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0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TP</a:t>
                      </a:r>
                      <a:endParaRPr lang="en-US" altLang="zh-CN" sz="2000" b="0" i="0">
                        <a:solidFill>
                          <a:srgbClr val="C51162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000" b="0" i="0">
                          <a:solidFill>
                            <a:srgbClr val="C51162"/>
                          </a:solidFill>
                          <a:latin typeface="-apple-system"/>
                          <a:ea typeface="-apple-system"/>
                        </a:rPr>
                        <a:t>FN</a:t>
                      </a:r>
                      <a:endParaRPr lang="en-US" altLang="zh-CN" sz="2000" b="0" i="0">
                        <a:solidFill>
                          <a:srgbClr val="C51162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真实是：健康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FP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TN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5095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召回率的应用场景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 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1090" y="1184592"/>
            <a:ext cx="5080000" cy="306641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当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FN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（漏报）的代价非常高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时，我们希望模型的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召回率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尽可能高。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场景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1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：癌症诊断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漏掉一个真正的癌症病人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(FN)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，可能会使其错过最佳治疗时期，后果是致命的。在这种情况下，我们宁愿误诊一些健康人（让他们再去做进一步检查），也绝不能漏掉一个真正的病人。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场景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：金融欺诈检测</a:t>
            </a:r>
            <a:endParaRPr lang="zh-CN" altLang="en-US" sz="1600" b="0" i="0">
              <a:solidFill>
                <a:srgbClr val="C51162"/>
              </a:solidFill>
              <a:latin typeface="-apple-system"/>
              <a:ea typeface="-apple-system"/>
            </a:endParaRPr>
          </a:p>
          <a:p>
            <a:pPr marL="0" lvl="1" indent="0" algn="l">
              <a:spcAft>
                <a:spcPts val="10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漏掉一笔真实的欺诈交易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(FN)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，可能会给银行或用户带来巨大的经济损失。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509174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在这些场景，我们的首要任务是把所有“阳性”样本都找出来，即使这意味着会包含一些误报。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562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分类模型的损失函数：交叉熵</a:t>
            </a:r>
            <a:r>
              <a:rPr lang="en-US" altLang="zh-CN" sz="1600" b="1" i="0">
                <a:solidFill>
                  <a:srgbClr val="283593"/>
                </a:solidFill>
                <a:latin typeface="-apple-system"/>
                <a:ea typeface="-apple-system"/>
              </a:rPr>
              <a:t> </a:t>
            </a:r>
            <a:endParaRPr lang="en-US" altLang="zh-CN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00070" y="1339215"/>
            <a:ext cx="6352540" cy="34410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我们已经知道如何评估分类模型，但逻辑回归在训练时，它的损失函数是什么呢？它不是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MSE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，而是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交叉熵损失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(Cross-Entropy Loss)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交叉熵源于信息论，它衡量的是模型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预测的概率分布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与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真实的标签分布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之间的差异。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它的核心思想是：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对离谱的错误预测，施以巨大的惩罚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如果一个样本的真实标签是“猫”（标签为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1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），而模型预测它是猫的概率是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0.99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，那么交叉熵损失会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非常小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但如果模型预测它是猫的概率只有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0.01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，这是一个极其自信但完全错误的预测，交叉熵损失会给出一个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巨大的惩罚值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这种机制会激励模型不仅要“猜对”，还要“充满信心地猜对”。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564958"/>
            <a:ext cx="5080000" cy="37280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两大任务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回归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预测数值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分类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预测类别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两大模型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线性回归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逻辑回归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一大优化思想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通过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损失函数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定义目标，通过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梯度下降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达成目标。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在评估模型时，我们学会了：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准确率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很直观，但要警惕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样本不均衡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的陷阱。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精确率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(Precision)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关注“查得准”，避免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误报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(FP)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，适用于垃圾邮件过滤等场景。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10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召回率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(Recall)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关注“查得全”，避免</a:t>
            </a:r>
            <a:r>
              <a:rPr lang="zh-CN" altLang="en-US" sz="1600" b="0" i="0">
                <a:solidFill>
                  <a:srgbClr val="C51162"/>
                </a:solidFill>
                <a:latin typeface="-apple-system"/>
                <a:ea typeface="-apple-system"/>
              </a:rPr>
              <a:t>漏报 </a:t>
            </a:r>
            <a:r>
              <a:rPr lang="en-US" altLang="zh-CN" sz="1600" b="0" i="0">
                <a:solidFill>
                  <a:srgbClr val="C51162"/>
                </a:solidFill>
                <a:latin typeface="-apple-system"/>
                <a:ea typeface="-apple-system"/>
              </a:rPr>
              <a:t>(FN)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，适用于医疗诊断、欺诈检测等场景。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000"/>
              </a:spcAft>
            </a:pPr>
            <a:r>
              <a:rPr lang="zh-CN" altLang="en-US" b="1" i="0">
                <a:solidFill>
                  <a:srgbClr val="1A237E"/>
                </a:solidFill>
                <a:latin typeface="-apple-system"/>
                <a:ea typeface="-apple-system"/>
              </a:rPr>
              <a:t>黄金法则：场景决定需求，需求决定指标。</a:t>
            </a:r>
            <a:endParaRPr lang="zh-CN" altLang="en-US" b="1" i="0">
              <a:solidFill>
                <a:srgbClr val="1A237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4562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2400"/>
              </a:spcAft>
            </a:pPr>
            <a:r>
              <a:rPr lang="zh-CN" altLang="en-US" sz="1600" b="1" i="0">
                <a:solidFill>
                  <a:srgbClr val="283593"/>
                </a:solidFill>
                <a:latin typeface="-apple-system"/>
                <a:ea typeface="-apple-system"/>
              </a:rPr>
              <a:t>总结</a:t>
            </a:r>
            <a:endParaRPr lang="zh-CN" altLang="en-US" sz="1600" b="1" i="0">
              <a:solidFill>
                <a:srgbClr val="28359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4788</Words>
  <Application>WPS 演示</Application>
  <PresentationFormat>宽屏</PresentationFormat>
  <Paragraphs>249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-apple-system</vt:lpstr>
      <vt:lpstr>JetBrains Mono</vt:lpstr>
      <vt:lpstr>Arial</vt:lpstr>
      <vt:lpstr>SFMono-Regular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53</cp:revision>
  <dcterms:created xsi:type="dcterms:W3CDTF">2023-08-09T12:44:00Z</dcterms:created>
  <dcterms:modified xsi:type="dcterms:W3CDTF">2025-07-29T07:37:03Z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80EBCD1CA42D41BC8B7A535E6928D793_12</vt:lpwstr>
  </property>
</Properties>
</file>